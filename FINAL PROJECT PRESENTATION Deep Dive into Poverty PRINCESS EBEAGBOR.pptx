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7" r:id="rId10"/>
    <p:sldId id="264" r:id="rId11"/>
    <p:sldId id="263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657760FE2DA4F8D/Documents/final%20project%20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657760FE2DA4F8D/Documents/final%20project%20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en-US" sz="1000" b="0" i="0" u="none" strike="noStrike" dirty="0">
                <a:solidFill>
                  <a:srgbClr val="94A3B8"/>
                </a:solidFill>
                <a:latin typeface="Arial"/>
              </a:rPr>
              <a:t>Life Expectancy by Region (years)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Life Expectancy (years)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504-4559-B03B-C5D3B53C386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504-4559-B03B-C5D3B53C3869}"/>
              </c:ext>
            </c:extLst>
          </c:dPt>
          <c:dPt>
            <c:idx val="2"/>
            <c:invertIfNegative val="0"/>
            <c:bubble3D val="0"/>
            <c:spPr>
              <a:solidFill>
                <a:srgbClr val="1453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504-4559-B03B-C5D3B53C386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504-4559-B03B-C5D3B53C386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504-4559-B03B-C5D3B53C38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Eastern</c:v>
                </c:pt>
                <c:pt idx="1">
                  <c:v>Middle</c:v>
                </c:pt>
                <c:pt idx="2">
                  <c:v>Northern</c:v>
                </c:pt>
                <c:pt idx="3">
                  <c:v>Southern</c:v>
                </c:pt>
                <c:pt idx="4">
                  <c:v>Western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56.9</c:v>
                </c:pt>
                <c:pt idx="1">
                  <c:v>56.4</c:v>
                </c:pt>
                <c:pt idx="2">
                  <c:v>68.8</c:v>
                </c:pt>
                <c:pt idx="3">
                  <c:v>56.4</c:v>
                </c:pt>
                <c:pt idx="4">
                  <c:v>56.2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504-4559-B03B-C5D3B53C38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50"/>
        </c:scaling>
        <c:delete val="0"/>
        <c:axPos val="l"/>
        <c:majorGridlines>
          <c:spPr>
            <a:ln w="6350" cap="flat">
              <a:solidFill>
                <a:srgbClr val="2D6A9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4A6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4A6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A3C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0F2A3C"/>
                </a:solidFill>
                <a:latin typeface="Arial"/>
              </a:rPr>
              <a:t>Eastern Africa:</a:t>
            </a:r>
            <a:r>
              <a:rPr lang="en-US" sz="1100" b="0" i="0" u="none" strike="noStrike" baseline="0" dirty="0">
                <a:solidFill>
                  <a:srgbClr val="0F2A3C"/>
                </a:solidFill>
                <a:latin typeface="Arial"/>
              </a:rPr>
              <a:t> </a:t>
            </a:r>
            <a:r>
              <a:rPr lang="en-US" sz="1100" b="0" i="0" u="none" strike="noStrike" dirty="0">
                <a:solidFill>
                  <a:srgbClr val="0F2A3C"/>
                </a:solidFill>
                <a:latin typeface="Arial"/>
              </a:rPr>
              <a:t>Life Expectancy per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Expectancy (yrs)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69-4395-8EB3-1B552105604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569-4395-8EB3-1B552105604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569-4395-8EB3-1B5521056045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69-4395-8EB3-1B552105604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569-4395-8EB3-1B552105604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569-4395-8EB3-1B552105604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569-4395-8EB3-1B5521056045}"/>
              </c:ext>
            </c:extLst>
          </c:dPt>
          <c:dPt>
            <c:idx val="7"/>
            <c:invertIfNegative val="0"/>
            <c:bubble3D val="0"/>
            <c:spPr>
              <a:solidFill>
                <a:srgbClr val="1453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569-4395-8EB3-1B5521056045}"/>
              </c:ext>
            </c:extLst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569-4395-8EB3-1B552105604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E569-4395-8EB3-1B5521056045}"/>
              </c:ext>
            </c:extLst>
          </c:dPt>
          <c:dPt>
            <c:idx val="10"/>
            <c:invertIfNegative val="0"/>
            <c:bubble3D val="0"/>
            <c:spPr>
              <a:solidFill>
                <a:srgbClr val="1453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E569-4395-8EB3-1B5521056045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E569-4395-8EB3-1B5521056045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E569-4395-8EB3-1B5521056045}"/>
              </c:ext>
            </c:extLst>
          </c:dPt>
          <c:dPt>
            <c:idx val="1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E569-4395-8EB3-1B5521056045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E569-4395-8EB3-1B55210560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Burundi</c:v>
                </c:pt>
                <c:pt idx="1">
                  <c:v>Comoros</c:v>
                </c:pt>
                <c:pt idx="2">
                  <c:v>Djibouti</c:v>
                </c:pt>
                <c:pt idx="3">
                  <c:v>Ethiopia</c:v>
                </c:pt>
                <c:pt idx="4">
                  <c:v>Kenya</c:v>
                </c:pt>
                <c:pt idx="5">
                  <c:v>Madagascar</c:v>
                </c:pt>
                <c:pt idx="6">
                  <c:v>Malawi</c:v>
                </c:pt>
                <c:pt idx="7">
                  <c:v>Mauritius</c:v>
                </c:pt>
                <c:pt idx="8">
                  <c:v>Mozambique</c:v>
                </c:pt>
                <c:pt idx="9">
                  <c:v>Rwanda</c:v>
                </c:pt>
                <c:pt idx="10">
                  <c:v>Seychelles</c:v>
                </c:pt>
                <c:pt idx="11">
                  <c:v>Tanzania</c:v>
                </c:pt>
                <c:pt idx="12">
                  <c:v>Uganda</c:v>
                </c:pt>
                <c:pt idx="13">
                  <c:v>Zambia</c:v>
                </c:pt>
                <c:pt idx="14">
                  <c:v>Zimbabwe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50.9</c:v>
                </c:pt>
                <c:pt idx="1">
                  <c:v>61</c:v>
                </c:pt>
                <c:pt idx="2">
                  <c:v>60.5</c:v>
                </c:pt>
                <c:pt idx="3">
                  <c:v>54.8</c:v>
                </c:pt>
                <c:pt idx="4">
                  <c:v>57.5</c:v>
                </c:pt>
                <c:pt idx="5">
                  <c:v>57.9</c:v>
                </c:pt>
                <c:pt idx="6">
                  <c:v>55.3</c:v>
                </c:pt>
                <c:pt idx="7">
                  <c:v>74.099999999999994</c:v>
                </c:pt>
                <c:pt idx="8">
                  <c:v>51.9</c:v>
                </c:pt>
                <c:pt idx="9">
                  <c:v>59.4</c:v>
                </c:pt>
                <c:pt idx="10">
                  <c:v>72.3</c:v>
                </c:pt>
                <c:pt idx="11">
                  <c:v>57.7</c:v>
                </c:pt>
                <c:pt idx="12">
                  <c:v>53</c:v>
                </c:pt>
                <c:pt idx="13">
                  <c:v>49.9</c:v>
                </c:pt>
                <c:pt idx="14">
                  <c:v>58.4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E569-4395-8EB3-1B55210560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A3C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0F2A3C"/>
                </a:solidFill>
                <a:latin typeface="Arial"/>
              </a:rPr>
              <a:t>Middle Africa:</a:t>
            </a:r>
            <a:r>
              <a:rPr lang="en-US" sz="1100" b="0" i="0" u="none" strike="noStrike" baseline="0" dirty="0">
                <a:solidFill>
                  <a:srgbClr val="0F2A3C"/>
                </a:solidFill>
                <a:latin typeface="Arial"/>
              </a:rPr>
              <a:t> </a:t>
            </a:r>
            <a:r>
              <a:rPr lang="en-US" sz="1100" b="0" i="0" u="none" strike="noStrike" dirty="0">
                <a:solidFill>
                  <a:srgbClr val="0F2A3C"/>
                </a:solidFill>
                <a:latin typeface="Arial"/>
              </a:rPr>
              <a:t>Life Expectancy per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Expectancy (yrs)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D3-46E4-AC77-8E754AA92DDF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D3-46E4-AC77-8E754AA92DDF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D3-46E4-AC77-8E754AA92DDF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D3-46E4-AC77-8E754AA92DDF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D3-46E4-AC77-8E754AA92DDF}"/>
              </c:ext>
            </c:extLst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D3-46E4-AC77-8E754AA92DDF}"/>
              </c:ext>
            </c:extLst>
          </c:dPt>
          <c:dPt>
            <c:idx val="6"/>
            <c:invertIfNegative val="0"/>
            <c:bubble3D val="0"/>
            <c:spPr>
              <a:solidFill>
                <a:srgbClr val="1453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6D3-46E4-AC77-8E754AA92DDF}"/>
              </c:ext>
            </c:extLst>
          </c:dPt>
          <c:dPt>
            <c:idx val="7"/>
            <c:invertIfNegative val="0"/>
            <c:bubble3D val="0"/>
            <c:spPr>
              <a:solidFill>
                <a:srgbClr val="1453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6D3-46E4-AC77-8E754AA92D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Angola</c:v>
                </c:pt>
                <c:pt idx="1">
                  <c:v>Cameroon</c:v>
                </c:pt>
                <c:pt idx="2">
                  <c:v>CAR</c:v>
                </c:pt>
                <c:pt idx="3">
                  <c:v>Chad</c:v>
                </c:pt>
                <c:pt idx="4">
                  <c:v>Congo</c:v>
                </c:pt>
                <c:pt idx="5">
                  <c:v>DR Congo</c:v>
                </c:pt>
                <c:pt idx="6">
                  <c:v>Gabon</c:v>
                </c:pt>
                <c:pt idx="7">
                  <c:v>Sao Tome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54.2</c:v>
                </c:pt>
                <c:pt idx="1">
                  <c:v>55</c:v>
                </c:pt>
                <c:pt idx="2">
                  <c:v>48.4</c:v>
                </c:pt>
                <c:pt idx="3">
                  <c:v>50.3</c:v>
                </c:pt>
                <c:pt idx="4">
                  <c:v>60.1</c:v>
                </c:pt>
                <c:pt idx="5">
                  <c:v>55.3</c:v>
                </c:pt>
                <c:pt idx="6">
                  <c:v>64.099999999999994</c:v>
                </c:pt>
                <c:pt idx="7">
                  <c:v>65.099999999999994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6D3-46E4-AC77-8E754AA92D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(US$ Billions)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Algeria</c:v>
                </c:pt>
                <c:pt idx="1">
                  <c:v>Egypt</c:v>
                </c:pt>
                <c:pt idx="2">
                  <c:v>Morocco</c:v>
                </c:pt>
                <c:pt idx="3">
                  <c:v>Sudan</c:v>
                </c:pt>
                <c:pt idx="4">
                  <c:v>Tunisia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100.3</c:v>
                </c:pt>
                <c:pt idx="1">
                  <c:v>166.5</c:v>
                </c:pt>
                <c:pt idx="2">
                  <c:v>50.2</c:v>
                </c:pt>
                <c:pt idx="3">
                  <c:v>67.599999999999994</c:v>
                </c:pt>
                <c:pt idx="4">
                  <c:v>26.4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B-4029-AF9D-F423065CDC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Life Expectancy (yrs)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Algeria</c:v>
                </c:pt>
                <c:pt idx="1">
                  <c:v>Egypt</c:v>
                </c:pt>
                <c:pt idx="2">
                  <c:v>Morocco</c:v>
                </c:pt>
                <c:pt idx="3">
                  <c:v>Sudan</c:v>
                </c:pt>
                <c:pt idx="4">
                  <c:v>Tunisia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69.5</c:v>
                </c:pt>
                <c:pt idx="1">
                  <c:v>68.599999999999994</c:v>
                </c:pt>
                <c:pt idx="2">
                  <c:v>65.8</c:v>
                </c:pt>
                <c:pt idx="3">
                  <c:v>63.5</c:v>
                </c:pt>
                <c:pt idx="4">
                  <c:v>72.8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DB-4029-AF9D-F423065CDC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E7B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5F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E7B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4A35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6EE7B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4A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A3C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0F2A3C"/>
                </a:solidFill>
                <a:latin typeface="Arial"/>
              </a:rPr>
              <a:t>Southern Africa:</a:t>
            </a:r>
            <a:r>
              <a:rPr lang="en-US" sz="1100" b="0" i="0" u="none" strike="noStrike" baseline="0" dirty="0">
                <a:solidFill>
                  <a:srgbClr val="0F2A3C"/>
                </a:solidFill>
                <a:latin typeface="Arial"/>
              </a:rPr>
              <a:t> </a:t>
            </a:r>
            <a:r>
              <a:rPr lang="en-US" sz="1100" b="0" i="0" u="none" strike="noStrike" dirty="0">
                <a:solidFill>
                  <a:srgbClr val="0F2A3C"/>
                </a:solidFill>
                <a:latin typeface="Arial"/>
              </a:rPr>
              <a:t>GDP vs Life Expectancy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(US$ Billions)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Botswana</c:v>
                </c:pt>
                <c:pt idx="1">
                  <c:v>Eswatini</c:v>
                </c:pt>
                <c:pt idx="2">
                  <c:v>Lesotho</c:v>
                </c:pt>
                <c:pt idx="3">
                  <c:v>Namibia</c:v>
                </c:pt>
                <c:pt idx="4">
                  <c:v>South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6.9</c:v>
                </c:pt>
                <c:pt idx="1">
                  <c:v>2.6</c:v>
                </c:pt>
                <c:pt idx="2">
                  <c:v>1.1000000000000001</c:v>
                </c:pt>
                <c:pt idx="3">
                  <c:v>7.1</c:v>
                </c:pt>
                <c:pt idx="4">
                  <c:v>283.8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1A-4906-A09F-84FAAE0289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Life Expectancy (yrs)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Botswana</c:v>
                </c:pt>
                <c:pt idx="1">
                  <c:v>Eswatini</c:v>
                </c:pt>
                <c:pt idx="2">
                  <c:v>Lesotho</c:v>
                </c:pt>
                <c:pt idx="3">
                  <c:v>Namibia</c:v>
                </c:pt>
                <c:pt idx="4">
                  <c:v>South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58.6</c:v>
                </c:pt>
                <c:pt idx="1">
                  <c:v>51.7</c:v>
                </c:pt>
                <c:pt idx="2">
                  <c:v>54.1</c:v>
                </c:pt>
                <c:pt idx="3">
                  <c:v>57.1</c:v>
                </c:pt>
                <c:pt idx="4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1A-4906-A09F-84FAAE0289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A3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2A3C"/>
                </a:solidFill>
                <a:latin typeface="Arial"/>
              </a:rPr>
              <a:t>Eastern Africa: GDP (B$) vs Life Expectancy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78"/>
          <c:min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300" b="1" i="0" u="none" strike="noStrike" baseline="0"/>
              <a:t>Eastern Africa: Wealth GDP vs. Life Expectancy</a:t>
            </a:r>
            <a:endParaRPr lang="en-US" sz="1300" b="1" baseline="0"/>
          </a:p>
        </c:rich>
      </c:tx>
      <c:layout>
        <c:manualLayout>
          <c:xMode val="edge"/>
          <c:yMode val="edge"/>
          <c:x val="3.5104292325576304E-2"/>
          <c:y val="1.86666637270345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983045642971508"/>
          <c:y val="0.16739330697218263"/>
          <c:w val="0.76269901541495133"/>
          <c:h val="0.62539129258929771"/>
        </c:manualLayout>
      </c:layout>
      <c:scatterChart>
        <c:scatterStyle val="lineMarker"/>
        <c:varyColors val="0"/>
        <c:ser>
          <c:idx val="0"/>
          <c:order val="0"/>
          <c:tx>
            <c:strRef>
              <c:f>'Scatter plot chart'!$C$1</c:f>
              <c:strCache>
                <c:ptCount val="1"/>
                <c:pt idx="0">
                  <c:v>Average of life_expectancy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'Scatter plot chart'!$B$2:$B$19</c:f>
              <c:numCache>
                <c:formatCode>General</c:formatCode>
                <c:ptCount val="18"/>
                <c:pt idx="0">
                  <c:v>11160449345.081551</c:v>
                </c:pt>
                <c:pt idx="1">
                  <c:v>1425447545.3170469</c:v>
                </c:pt>
                <c:pt idx="2">
                  <c:v>891646900.47210455</c:v>
                </c:pt>
                <c:pt idx="3">
                  <c:v>1687538369.5511506</c:v>
                </c:pt>
                <c:pt idx="4">
                  <c:v>24003826124.898514</c:v>
                </c:pt>
                <c:pt idx="5">
                  <c:v>23466271871.733376</c:v>
                </c:pt>
                <c:pt idx="6">
                  <c:v>6333159392.9239645</c:v>
                </c:pt>
                <c:pt idx="7">
                  <c:v>5911479262.1477728</c:v>
                </c:pt>
                <c:pt idx="8">
                  <c:v>10803666067.364954</c:v>
                </c:pt>
                <c:pt idx="9">
                  <c:v>9951520594.9099388</c:v>
                </c:pt>
                <c:pt idx="10">
                  <c:v>5525660757.5747395</c:v>
                </c:pt>
                <c:pt idx="11">
                  <c:v>1150951813.697593</c:v>
                </c:pt>
                <c:pt idx="12">
                  <c:v>5609000000</c:v>
                </c:pt>
                <c:pt idx="13">
                  <c:v>12231264525.067104</c:v>
                </c:pt>
                <c:pt idx="14">
                  <c:v>26367384257.958637</c:v>
                </c:pt>
                <c:pt idx="15">
                  <c:v>15258564365.722803</c:v>
                </c:pt>
                <c:pt idx="16">
                  <c:v>8719509194.3536472</c:v>
                </c:pt>
                <c:pt idx="17">
                  <c:v>17839682057.661396</c:v>
                </c:pt>
              </c:numCache>
            </c:numRef>
          </c:xVal>
          <c:yVal>
            <c:numRef>
              <c:f>'Scatter plot chart'!$C$2:$C$19</c:f>
              <c:numCache>
                <c:formatCode>General</c:formatCode>
                <c:ptCount val="18"/>
                <c:pt idx="0">
                  <c:v>56.874683544303799</c:v>
                </c:pt>
                <c:pt idx="1">
                  <c:v>50.9</c:v>
                </c:pt>
                <c:pt idx="2">
                  <c:v>61</c:v>
                </c:pt>
                <c:pt idx="3">
                  <c:v>60.5</c:v>
                </c:pt>
                <c:pt idx="4">
                  <c:v>54.839999999999996</c:v>
                </c:pt>
                <c:pt idx="5">
                  <c:v>57.52</c:v>
                </c:pt>
                <c:pt idx="6">
                  <c:v>57.862499999999997</c:v>
                </c:pt>
                <c:pt idx="7">
                  <c:v>55.260000000000005</c:v>
                </c:pt>
                <c:pt idx="8">
                  <c:v>74.066666666666677</c:v>
                </c:pt>
                <c:pt idx="9">
                  <c:v>51.924999999999997</c:v>
                </c:pt>
                <c:pt idx="10">
                  <c:v>59.400000000000013</c:v>
                </c:pt>
                <c:pt idx="11">
                  <c:v>72.275000000000006</c:v>
                </c:pt>
                <c:pt idx="12">
                  <c:v>55.7</c:v>
                </c:pt>
                <c:pt idx="13">
                  <c:v>54.7</c:v>
                </c:pt>
                <c:pt idx="14">
                  <c:v>57.739999999999995</c:v>
                </c:pt>
                <c:pt idx="15">
                  <c:v>52.989999999999995</c:v>
                </c:pt>
                <c:pt idx="16">
                  <c:v>49.944444444444443</c:v>
                </c:pt>
                <c:pt idx="17">
                  <c:v>58.433333333333337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407-4AC5-82F6-C675BBF32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17538959"/>
        <c:axId val="1417537039"/>
      </c:scatterChart>
      <c:valAx>
        <c:axId val="14175389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/>
                  <a:t>Average GDP (in USD)</a:t>
                </a:r>
                <a:endParaRPr 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gt;999999999]#,,,&quot; Billion&quot;;[&gt;999999]#,,&quot; Million&quot;;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537039"/>
        <c:crosses val="autoZero"/>
        <c:crossBetween val="midCat"/>
      </c:valAx>
      <c:valAx>
        <c:axId val="1417537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 b="1"/>
              </a:p>
              <a:p>
                <a:pPr>
                  <a:defRPr b="1"/>
                </a:pPr>
                <a:r>
                  <a:rPr lang="en-US" b="1"/>
                  <a:t>Average Life Expectancy (Years)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5389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3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Middle Africa: Wealth GDP vs. Life Expectancy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'Scatter plot chart'!$C$23</c:f>
              <c:strCache>
                <c:ptCount val="1"/>
                <c:pt idx="0">
                  <c:v>Average of life_expectancy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'Scatter plot chart'!$B$24:$B$32</c:f>
              <c:numCache>
                <c:formatCode>General</c:formatCode>
                <c:ptCount val="9"/>
                <c:pt idx="0">
                  <c:v>18718811708.802284</c:v>
                </c:pt>
                <c:pt idx="1">
                  <c:v>58487050031.959435</c:v>
                </c:pt>
                <c:pt idx="2">
                  <c:v>20590455748.220844</c:v>
                </c:pt>
                <c:pt idx="3">
                  <c:v>1702662815.1037169</c:v>
                </c:pt>
                <c:pt idx="4">
                  <c:v>8718097255.2195663</c:v>
                </c:pt>
                <c:pt idx="5">
                  <c:v>11152692827.112741</c:v>
                </c:pt>
                <c:pt idx="6">
                  <c:v>19801859653.805782</c:v>
                </c:pt>
                <c:pt idx="7">
                  <c:v>12256136044.559792</c:v>
                </c:pt>
                <c:pt idx="8">
                  <c:v>286133320.23056614</c:v>
                </c:pt>
              </c:numCache>
            </c:numRef>
          </c:xVal>
          <c:yVal>
            <c:numRef>
              <c:f>'Scatter plot chart'!$C$24:$C$32</c:f>
              <c:numCache>
                <c:formatCode>General</c:formatCode>
                <c:ptCount val="9"/>
                <c:pt idx="0">
                  <c:v>56.409523809523826</c:v>
                </c:pt>
                <c:pt idx="1">
                  <c:v>54.233333333333327</c:v>
                </c:pt>
                <c:pt idx="2">
                  <c:v>55</c:v>
                </c:pt>
                <c:pt idx="3">
                  <c:v>48.4</c:v>
                </c:pt>
                <c:pt idx="4">
                  <c:v>50.333333333333336</c:v>
                </c:pt>
                <c:pt idx="5">
                  <c:v>60.05</c:v>
                </c:pt>
                <c:pt idx="6">
                  <c:v>55.3</c:v>
                </c:pt>
                <c:pt idx="7">
                  <c:v>64.099999999999994</c:v>
                </c:pt>
                <c:pt idx="8">
                  <c:v>65.066666666666663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66C-4F0D-8710-9E4058E7D7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1196975"/>
        <c:axId val="921199855"/>
      </c:scatterChart>
      <c:valAx>
        <c:axId val="9211969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Average GDP (in USD)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gt;999999999]#,,,&quot; Billion&quot;;[&gt;999999]#,,&quot; Million&quot;;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1199855"/>
        <c:crosses val="autoZero"/>
        <c:crossBetween val="midCat"/>
      </c:valAx>
      <c:valAx>
        <c:axId val="921199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Average Life Expectancy (Years)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11969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2A3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F2A3C"/>
                </a:solidFill>
                <a:latin typeface="Arial"/>
              </a:rPr>
              <a:t>Relative Economic Impact by Income Group (Index)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Economic Impact on GDP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44-4576-93CF-FECBA99EBF42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44-4576-93CF-FECBA99EBF42}"/>
              </c:ext>
            </c:extLst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44-4576-93CF-FECBA99EBF42}"/>
              </c:ext>
            </c:extLst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44-4576-93CF-FECBA99EBF42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44-4576-93CF-FECBA99EBF42}"/>
              </c:ext>
            </c:extLst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244-4576-93CF-FECBA99EBF42}"/>
              </c:ext>
            </c:extLst>
          </c:dPt>
          <c:dPt>
            <c:idx val="6"/>
            <c:invertIfNegative val="0"/>
            <c:bubble3D val="0"/>
            <c:spPr>
              <a:solidFill>
                <a:srgbClr val="047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244-4576-93CF-FECBA99EBF42}"/>
              </c:ext>
            </c:extLst>
          </c:dPt>
          <c:dPt>
            <c:idx val="7"/>
            <c:invertIfNegative val="0"/>
            <c:bubble3D val="0"/>
            <c:spPr>
              <a:solidFill>
                <a:srgbClr val="065F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244-4576-93CF-FECBA99EBF42}"/>
              </c:ext>
            </c:extLst>
          </c:dPt>
          <c:dPt>
            <c:idx val="8"/>
            <c:invertIfNegative val="0"/>
            <c:bubble3D val="0"/>
            <c:spPr>
              <a:solidFill>
                <a:srgbClr val="064E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244-4576-93CF-FECBA99EBF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Below $1/day</c:v>
                </c:pt>
                <c:pt idx="1">
                  <c:v>$1-$2.15/day</c:v>
                </c:pt>
                <c:pt idx="2">
                  <c:v>$2.15-$3.65/day</c:v>
                </c:pt>
                <c:pt idx="3">
                  <c:v>$3.65-$6.85/day</c:v>
                </c:pt>
                <c:pt idx="4">
                  <c:v>$6.85-$10/day</c:v>
                </c:pt>
                <c:pt idx="5">
                  <c:v>$10-$20/day</c:v>
                </c:pt>
                <c:pt idx="6">
                  <c:v>$20-$30/day</c:v>
                </c:pt>
                <c:pt idx="7">
                  <c:v>$30-$40/day</c:v>
                </c:pt>
                <c:pt idx="8">
                  <c:v>Above $40/day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4</c:v>
                </c:pt>
                <c:pt idx="2">
                  <c:v>12</c:v>
                </c:pt>
                <c:pt idx="3">
                  <c:v>28</c:v>
                </c:pt>
                <c:pt idx="4">
                  <c:v>45</c:v>
                </c:pt>
                <c:pt idx="5">
                  <c:v>72</c:v>
                </c:pt>
                <c:pt idx="6">
                  <c:v>85</c:v>
                </c:pt>
                <c:pt idx="7">
                  <c:v>92</c:v>
                </c:pt>
                <c:pt idx="8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244-4576-93CF-FECBA99EBF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92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yourself, the project brief, and this opening question: 'Does more money automatically mean a longer, healthier life? Our data says: not always.'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before touching a single chart, you had to think about data quality. The pivot table was your first analytical decision — not a shortcut, but a deliberate choice to make your charts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green bar in life expectancy — Northern Africa stands out clearly. Then point to the green bar in the poverty chart — Northern Africa is almost at zero. The pattern is already visible. Northern Africa reduced poverty, and people are living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bars = countries with high extreme poverty. Green = low poverty. Mauritius and Seychelles stand out as outliers with zero or near-zero poverty — and they have the highest life expectancy in the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Tunisia has the smallest economy here yet the highest life expectancy at 72.8 years. Why? Near-zero extreme poverty — only 25,641 people. This is the thesis of the entire project in one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most dramatic slide. Let the Nigeria vs Cabo Verde comparison breathe for a moment. Say: 'One country earns 200 times more than the other. But Cabo Verdeans live 23 years longer. This one comparison tells the whole story of our project.'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D41FC-2219-0D61-E533-7559B3F6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2DDC7-13C7-2DC7-7A4F-E2416F0B1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43A0E-2614-A5E1-8DE9-F907EF977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your analytical core. The scatter plot does NOT show a clean diagonal. That visual fact is your proof that GDP alone is insufficient. Extreme poverty is the missing variable that explains the outliers.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EC44-7502-EDF7-0941-EA93FCDEE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07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8317-6B02-D722-8BF0-88345603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8FCCF-7394-DF07-BF8E-3504B505D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4E2DE-33E9-6713-14AB-70EE3CCCB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yourself, the project brief, and this opening question: 'Does more money automatically mean a longer, healthier life? Our data says: not always.'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1FCD6-EE32-974A-F4EE-AFD5EE8C2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55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668B-A9BF-3CD6-B7A5-1A678A23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3DB8B-EA12-D7F7-CB73-849B92F14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A6675-195A-21E9-CD4D-348E05E9E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your analytical core. The scatter plot does NOT show a clean diagonal. That visual fact is your proof that GDP alone is insufficient. Extreme poverty is the missing variable that explains the outliers.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704AF-A8E0-8814-0348-AB6EC79D9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67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each recommendation with why it makes economic sense — not just humanitarian sense. Stakeholders respond to economic arguments: 'Reducing poverty creates consumers and taxpayers, which grows the economy.'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most sophisticated analytical point. GDP growth comes from consumers — and extreme poverty produces zero consumers. The moment someone earns $5/day instead of $0.90/day, they start spending, which compounds through the economy.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Say: 'The most effective economic policy and the most humane policy are the same thing: reduce extreme poverty. When people have enough to eat, they live longer — and when they have a little money to spend, they grow the economy too. That is what our data shows.'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0" cy="5143500"/>
          </a:xfrm>
          <a:prstGeom prst="rect">
            <a:avLst/>
          </a:prstGeom>
          <a:solidFill>
            <a:srgbClr val="0F2A3C"/>
          </a:solidFill>
          <a:ln w="12700">
            <a:solidFill>
              <a:srgbClr val="0F2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7432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347472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DATA ANALYTICS | PRINCESS EBEAGBOR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Money &amp; Poverty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7D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Affect Lives in Africa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analysis of GDP, Life Expectancy &amp;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Poverty across 5 African regions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858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4270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8404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3858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4270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38404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0" y="3858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389120" y="4270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studied, how I cleaned the data, and why I chose this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2618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261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Thresholds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6642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counts across 9 income tiers from under $1 per day up to $40+ per day per country per year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01568" y="12618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58768" y="1261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16642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years of life at birth for each African country across multiple years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6208" y="12618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93408" y="1261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Data (Africa)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16642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national output in current US dollars per country, 1960 - 2021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CCFBF1"/>
          </a:solidFill>
          <a:ln w="12700">
            <a:solidFill>
              <a:srgbClr val="7DD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Pivot Table First?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227832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1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had up to 20 different years per country, plotting all of them would create hundreds of overlapping dots on a single chart, making it unreadable.
</a:t>
            </a:r>
            <a:r>
              <a:rPr lang="en-US" sz="1050" b="1" dirty="0">
                <a:solidFill>
                  <a:srgbClr val="1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1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Table averaged all years into ONE clean number per country, then grouped countries into 5 geographic regions enabling accurate, comparable scatter plots.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78892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852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Regional, Not Continental?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200400"/>
            <a:ext cx="3566160" cy="106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all 54 African countries as a single group hides the massive variation between them. By splitting into Eastern, Middle, Northern, Southern, and Western Africa, we can identify which regions are succeeding and which urgently need support.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averages across all 5 regions from my pivot table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4A6A"/>
          </a:solidFill>
          <a:ln w="12700">
            <a:solidFill>
              <a:srgbClr val="2D6A9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2402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$34.5B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GDP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532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regions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4A6A"/>
          </a:solidFill>
          <a:ln w="12700">
            <a:solidFill>
              <a:srgbClr val="2D6A9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2402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38988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57.9 yrs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21762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Life Expectancy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532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mean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4A6A"/>
          </a:solidFill>
          <a:ln w="12700">
            <a:solidFill>
              <a:srgbClr val="2D6A9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2402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38988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2.25M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21762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People in Extreme Poverty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532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country, below $1 per day</a:t>
            </a:r>
            <a:endParaRPr lang="en-US" sz="95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2509180198"/>
              </p:ext>
            </p:extLst>
          </p:nvPr>
        </p:nvGraphicFramePr>
        <p:xfrm>
          <a:off x="2164080" y="3321304"/>
          <a:ext cx="5029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1280"/>
            <a:ext cx="8229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CASE STUDY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0F2A3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Eastern &amp; Middle Africa: The Urgent Cases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6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GDP region meets highest poverty counts (extreme poverty drives low life expectancy in both)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098015114"/>
              </p:ext>
            </p:extLst>
          </p:nvPr>
        </p:nvGraphicFramePr>
        <p:xfrm>
          <a:off x="365760" y="148336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682747573"/>
              </p:ext>
            </p:extLst>
          </p:nvPr>
        </p:nvGraphicFramePr>
        <p:xfrm>
          <a:off x="4754880" y="1483360"/>
          <a:ext cx="4023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Northern Africa: The Success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GDP · Highest Life Expectancy · Lowest Extreme Poverty (what can every other region learn?)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D4A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$100.3B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69.5 yrs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&lt;$1/day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871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33,519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11887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D4A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48840" y="1188720"/>
            <a:ext cx="13716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5740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1664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$166.5B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68.6 yrs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57400" y="26883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&lt;$1/day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57400" y="2871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18,800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11887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D4A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0" y="1188720"/>
            <a:ext cx="13716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4904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1664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904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$50.2B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49040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65.8 yrs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26883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&lt;$1/day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49040" y="2871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48,541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11887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D4A3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32120" y="1188720"/>
            <a:ext cx="13716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4068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1664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4068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$67.6B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63.5 yrs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26883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&lt;$1/day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40680" y="2871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583,706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32320" y="11887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D4A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23760" y="1188720"/>
            <a:ext cx="13716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3232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1664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$26.4B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3232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32320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72.8 yrs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132320" y="26883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&lt;$1/day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32320" y="2871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25,641</a:t>
            </a:r>
            <a:endParaRPr lang="en-US" sz="1100" dirty="0"/>
          </a:p>
        </p:txBody>
      </p:sp>
      <p:graphicFrame>
        <p:nvGraphicFramePr>
          <p:cNvPr id="49" name="Chart 0"/>
          <p:cNvGraphicFramePr/>
          <p:nvPr/>
        </p:nvGraphicFramePr>
        <p:xfrm>
          <a:off x="365760" y="3566160"/>
          <a:ext cx="83210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 &amp; Western Africa: Wealth Without Wellbeing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75817467"/>
              </p:ext>
            </p:extLst>
          </p:nvPr>
        </p:nvGraphicFramePr>
        <p:xfrm>
          <a:off x="365760" y="1005840"/>
          <a:ext cx="41148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005840"/>
            <a:ext cx="40690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84632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Africa: The 23 Year Gap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00600" y="1463040"/>
            <a:ext cx="1828800" cy="210312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006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00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$252.9B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49.1 yrs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Expectancy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006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13.4M people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$1 per day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92240" y="21717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903720" y="1463040"/>
            <a:ext cx="1737360" cy="2103120"/>
          </a:xfrm>
          <a:prstGeom prst="roundRect">
            <a:avLst>
              <a:gd name="adj" fmla="val 3158"/>
            </a:avLst>
          </a:prstGeom>
          <a:solidFill>
            <a:srgbClr val="CCFBF1"/>
          </a:solidFill>
          <a:ln w="12700">
            <a:solidFill>
              <a:srgbClr val="7DD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0372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 Verde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0372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0372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72.4 yrs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Expectancy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0372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5,478 people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$1 per day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402336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Africa: $283.8B GDP yet 2.5M people still in extreme poverty. High GDP with high inequality keeps life expectancy stuck at just 59 years.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402336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economy is 200x larger than Cabo Verde's but Cabo Verdeans live 23 years longer. Extreme poverty, not GDP size, determines health outcomes.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44F9F-1A64-66B4-4F1B-93EB3CDA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9DABB8-154D-DC7B-879D-4C885AC1D355}"/>
              </a:ext>
            </a:extLst>
          </p:cNvPr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 vs Life Expectancy (Scatter Plot Analysis)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B623C4-8407-7EDF-A4BE-C7F146BB1940}"/>
              </a:ext>
            </a:extLst>
          </p:cNvPr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represents one country's average. The pattern confirms: high GDP alone does not predict long life.</a:t>
            </a:r>
            <a:endParaRPr lang="en-US" sz="12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700926AE-6FB2-AC86-9610-AE09447893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0898555"/>
              </p:ext>
            </p:extLst>
          </p:nvPr>
        </p:nvGraphicFramePr>
        <p:xfrm>
          <a:off x="365760" y="1005840"/>
          <a:ext cx="8321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F340050-E752-3C94-3190-715C9F7E0A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2599188"/>
              </p:ext>
            </p:extLst>
          </p:nvPr>
        </p:nvGraphicFramePr>
        <p:xfrm>
          <a:off x="737870" y="1211035"/>
          <a:ext cx="3752850" cy="2721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C7A12EE-CD1A-AB25-BC14-6E046861A2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7832444"/>
              </p:ext>
            </p:extLst>
          </p:nvPr>
        </p:nvGraphicFramePr>
        <p:xfrm>
          <a:off x="4490720" y="1154563"/>
          <a:ext cx="3889270" cy="2747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2143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40EE6-03A4-E7EB-222C-F1D9E64E1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9B7974E-FE9D-13DD-CA61-CB7B9595BA8E}"/>
              </a:ext>
            </a:extLst>
          </p:cNvPr>
          <p:cNvSpPr/>
          <p:nvPr/>
        </p:nvSpPr>
        <p:spPr>
          <a:xfrm>
            <a:off x="7772400" y="27432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B72F3D-AE9C-40EB-8CC4-BBF1C5C0BFC5}"/>
              </a:ext>
            </a:extLst>
          </p:cNvPr>
          <p:cNvSpPr/>
          <p:nvPr/>
        </p:nvSpPr>
        <p:spPr>
          <a:xfrm>
            <a:off x="7223760" y="347472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2CB6A1E4-5098-64A8-3A06-7EAA692FE2E4}"/>
              </a:ext>
            </a:extLst>
          </p:cNvPr>
          <p:cNvSpPr/>
          <p:nvPr/>
        </p:nvSpPr>
        <p:spPr>
          <a:xfrm>
            <a:off x="216263" y="185692"/>
            <a:ext cx="69160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Comparison: Wealth vs. Health Across Africa</a:t>
            </a:r>
            <a:endParaRPr lang="en-US" sz="2200" dirty="0">
              <a:solidFill>
                <a:schemeClr val="bg1"/>
              </a:solidFill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997565C-51C5-745F-A81C-B426A7C71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155460"/>
              </p:ext>
            </p:extLst>
          </p:nvPr>
        </p:nvGraphicFramePr>
        <p:xfrm>
          <a:off x="274320" y="713232"/>
          <a:ext cx="8544561" cy="425065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358537">
                  <a:extLst>
                    <a:ext uri="{9D8B030D-6E8A-4147-A177-3AD203B41FA5}">
                      <a16:colId xmlns:a16="http://schemas.microsoft.com/office/drawing/2014/main" val="1583506793"/>
                    </a:ext>
                  </a:extLst>
                </a:gridCol>
                <a:gridCol w="3839029">
                  <a:extLst>
                    <a:ext uri="{9D8B030D-6E8A-4147-A177-3AD203B41FA5}">
                      <a16:colId xmlns:a16="http://schemas.microsoft.com/office/drawing/2014/main" val="1285033094"/>
                    </a:ext>
                  </a:extLst>
                </a:gridCol>
                <a:gridCol w="3346995">
                  <a:extLst>
                    <a:ext uri="{9D8B030D-6E8A-4147-A177-3AD203B41FA5}">
                      <a16:colId xmlns:a16="http://schemas.microsoft.com/office/drawing/2014/main" val="1451321979"/>
                    </a:ext>
                  </a:extLst>
                </a:gridCol>
              </a:tblGrid>
              <a:tr h="702899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Geographic Region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Wealth vs. Health Reality (GDP vs. Life Expectancy)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Extreme Poverty Impact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394239"/>
                  </a:ext>
                </a:extLst>
              </a:tr>
              <a:tr h="709551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Eastern Africa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Larger GDP does </a:t>
                      </a:r>
                      <a:r>
                        <a:rPr lang="en-US" sz="1100" b="0" dirty="0">
                          <a:solidFill>
                            <a:schemeClr val="bg1"/>
                          </a:solidFill>
                        </a:rPr>
                        <a:t>not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mean longer life (e.g., Ethiopia's large GDP gives 54 yrs vs. Mauritius's small GDP giving 74 yrs).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High poverty keeps life expectancy low (e.g., Mozambique has 7.5M in extreme poverty and 51 yrs life expectancy). 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78702"/>
                  </a:ext>
                </a:extLst>
              </a:tr>
              <a:tr h="709551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Middle Africa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High resource wealth is not reaching citizens (e.g., Angola's large GDP gives 54 yrs vs. Sao Tome's small GDP giving 65 yrs). 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Large total GDP on paper, but nearly 28M people in DR Congo live in extreme poverty. 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198278"/>
                  </a:ext>
                </a:extLst>
              </a:tr>
              <a:tr h="70955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Northern Africa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Wealthiest region overall: Tunisia reaches 72 yrs with a smaller GDP than Egypt (68 yrs).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Highest success because extreme poverty is very low (Sudan is the main exception at 63 yrs). 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756202"/>
                  </a:ext>
                </a:extLst>
              </a:tr>
              <a:tr h="70955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Southern Africa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High GDP coexists with low health due to inequality (e.g., South Africa has high GDP but 59 yrs life expectancy). 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South Africa's large economy still has over 2.5M people living in extreme poverty. 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941068"/>
                  </a:ext>
                </a:extLst>
              </a:tr>
              <a:tr h="70955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Western Africa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Extreme gap: Nigeria's economy is massive but life expectancy is 49 yrs, while Cabo Verde reaches 72 yrs (a 23-yr gap).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Nigeria has 13M+ people in extreme poverty, while Cabo Verde has almost zero.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096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10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6F925-F7B7-0116-BC20-AC343B83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612F70-0F1C-DB0B-659C-CD0313BA3CD0}"/>
              </a:ext>
            </a:extLst>
          </p:cNvPr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Comparison: Wealth vs. Health Across Africa</a:t>
            </a:r>
            <a:endParaRPr lang="en-US" sz="2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74E2A3-DA15-5C50-C8C0-C80D9B287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340354"/>
              </p:ext>
            </p:extLst>
          </p:nvPr>
        </p:nvGraphicFramePr>
        <p:xfrm>
          <a:off x="294640" y="713232"/>
          <a:ext cx="8544561" cy="3966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187">
                  <a:extLst>
                    <a:ext uri="{9D8B030D-6E8A-4147-A177-3AD203B41FA5}">
                      <a16:colId xmlns:a16="http://schemas.microsoft.com/office/drawing/2014/main" val="1583506793"/>
                    </a:ext>
                  </a:extLst>
                </a:gridCol>
                <a:gridCol w="2848187">
                  <a:extLst>
                    <a:ext uri="{9D8B030D-6E8A-4147-A177-3AD203B41FA5}">
                      <a16:colId xmlns:a16="http://schemas.microsoft.com/office/drawing/2014/main" val="1285033094"/>
                    </a:ext>
                  </a:extLst>
                </a:gridCol>
                <a:gridCol w="2848187">
                  <a:extLst>
                    <a:ext uri="{9D8B030D-6E8A-4147-A177-3AD203B41FA5}">
                      <a16:colId xmlns:a16="http://schemas.microsoft.com/office/drawing/2014/main" val="1451321979"/>
                    </a:ext>
                  </a:extLst>
                </a:gridCol>
              </a:tblGrid>
              <a:tr h="962875">
                <a:tc>
                  <a:txBody>
                    <a:bodyPr/>
                    <a:lstStyle/>
                    <a:p>
                      <a:r>
                        <a:rPr lang="en-US" sz="1100" b="1" dirty="0"/>
                        <a:t>Geographic Region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Wealth vs. Health Reality (GDP vs. Life Expectancy)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Extreme Poverty Impact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394239"/>
                  </a:ext>
                </a:extLst>
              </a:tr>
              <a:tr h="600768">
                <a:tc>
                  <a:txBody>
                    <a:bodyPr/>
                    <a:lstStyle/>
                    <a:p>
                      <a:r>
                        <a:rPr lang="en-US" sz="1100" dirty="0"/>
                        <a:t>Eastern Africa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Larger GDP does </a:t>
                      </a:r>
                      <a:r>
                        <a:rPr lang="en-US" sz="1100" b="0" dirty="0"/>
                        <a:t>not</a:t>
                      </a:r>
                      <a:r>
                        <a:rPr lang="en-US" sz="1100" dirty="0"/>
                        <a:t> mean longer life (e.g., Ethiopia's large GDP gives 54 yrs vs. Mauritius's small GDP giving 74 yrs).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High poverty keeps life expectancy low (e.g., Mozambique has 7.5M in extreme poverty and 51 yrs life expectancy). 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78702"/>
                  </a:ext>
                </a:extLst>
              </a:tr>
              <a:tr h="600768">
                <a:tc>
                  <a:txBody>
                    <a:bodyPr/>
                    <a:lstStyle/>
                    <a:p>
                      <a:r>
                        <a:rPr lang="en-US" sz="1100"/>
                        <a:t>Middle Africa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High resource wealth is not reaching citizens (e.g., Angola's large GDP gives 54 yrs vs. Sao Tome's small GDP giving 65 yrs).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Large total GDP on paper, but nearly 28M people in DR Congo live in extreme poverty. 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198278"/>
                  </a:ext>
                </a:extLst>
              </a:tr>
              <a:tr h="600768">
                <a:tc>
                  <a:txBody>
                    <a:bodyPr/>
                    <a:lstStyle/>
                    <a:p>
                      <a:r>
                        <a:rPr lang="en-US" sz="1100"/>
                        <a:t>Northern Africa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Wealthiest region overall: Tunisia reaches 72 yrs with a smaller GDP than Egypt (68 yrs).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Highest success because extreme poverty is very low (Sudan is the main exception at 63 yrs). 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756202"/>
                  </a:ext>
                </a:extLst>
              </a:tr>
              <a:tr h="600768">
                <a:tc>
                  <a:txBody>
                    <a:bodyPr/>
                    <a:lstStyle/>
                    <a:p>
                      <a:r>
                        <a:rPr lang="en-US" sz="1100"/>
                        <a:t>Southern Africa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High GDP coexists with low health due to inequality (e.g., South Africa has high GDP but 59 yrs life expectancy).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South Africa's large economy still has over 2.5M people living in extreme poverty. 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941068"/>
                  </a:ext>
                </a:extLst>
              </a:tr>
              <a:tr h="600768">
                <a:tc>
                  <a:txBody>
                    <a:bodyPr/>
                    <a:lstStyle/>
                    <a:p>
                      <a:r>
                        <a:rPr lang="en-US" sz="1100"/>
                        <a:t>Western Africa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Extreme gap: Nigeria's economy is massive but life expectancy is 49 yrs, while Cabo Verde reaches 72 yrs (a 23-yr gap).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Nigeria has 13M+ people in extreme poverty, while Cabo Verde has almost zero.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096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154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 by Region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63040" y="1069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Africa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3898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directly in public health clinics, clean water, and food programs. GDP growth alone will not reduce poverty, targeted spending is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025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63040" y="18653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Africa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1854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oil and mining revenue into public infrastructure, free healthcare, and schools. Stop wealth from staying only at the top.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980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2660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Africa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29809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existing social safety programs. Create regional partnerships to help Sudan lower its 583,000-person poverty count.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593592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93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63040" y="3456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776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Tackle inequality, not growth. Create youth employment programs and invest in public hospitals accessible to low income families.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6304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Africa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45720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away from oil dependency. Direct investment in agriculture, primary healthcare, and basic education breaks the poverty cycle.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Variables Impact GDP the Most?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people out of extreme poverty into the middle class is the single most powerful economic intervention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50292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51560"/>
            <a:ext cx="3200400" cy="1143000"/>
          </a:xfrm>
          <a:prstGeom prst="roundRect">
            <a:avLst>
              <a:gd name="adj" fmla="val 56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0" y="1097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poverty = near-zero GDP impact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0" y="14356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below $1/day cannot buy goods, pay taxes, or participate in the formal economy. Their spending power is essentially invisible to national GDP calculations.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577840" y="2286000"/>
            <a:ext cx="3200400" cy="1143000"/>
          </a:xfrm>
          <a:prstGeom prst="roundRect">
            <a:avLst>
              <a:gd name="adj" fmla="val 56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15000" y="23317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class is the engine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26700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earn $3–$20/day, they become consumers. They shop, visit clinics, start small businesses, and pay taxes. This is when their economic contribution surges.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3520440"/>
            <a:ext cx="3200400" cy="1143000"/>
          </a:xfrm>
          <a:prstGeom prst="roundRect">
            <a:avLst>
              <a:gd name="adj" fmla="val 5600"/>
            </a:avLst>
          </a:prstGeom>
          <a:solidFill>
            <a:srgbClr val="CCFBF1"/>
          </a:solidFill>
          <a:ln w="12700">
            <a:solidFill>
              <a:srgbClr val="7DD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0" y="3566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poverty = growing the economy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0" y="39044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people out of extreme poverty is not charity, it is the most efficient economic policy available. It creates tax revenue, demand, and entrepreneurs simultaneously.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Conclusions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875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does not automatically improve life expectancy. A country can be wealthy on paper while millions of its citizens live in extreme poverty and die young.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poverty is the real villain. In every region, countries with the lowest extreme poverty had the highest life expectancy regardless of total GDP.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90779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Africa is the model. They have the highest average life expectancy (68.8 years) and the lowest average extreme poverty (70,663 people).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86791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people out of poverty grows the economy. Middle income earners ($3–$20/day) create demand, pay taxes, and start businesses. Extreme poverty creates none of this.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822960"/>
            <a:ext cx="3246120" cy="3931920"/>
          </a:xfrm>
          <a:prstGeom prst="roundRect">
            <a:avLst>
              <a:gd name="adj" fmla="val 281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960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16916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Reducing
extreme poverty
</a:t>
            </a:r>
            <a:r>
              <a:rPr lang="en-US" sz="1400" dirty="0">
                <a:solidFill>
                  <a:srgbClr val="CCFBF1"/>
                </a:solidFill>
              </a:rPr>
              <a:t>is more effective
for improving life
expectancy than
</a:t>
            </a:r>
            <a:r>
              <a:rPr lang="en-US" sz="2200" b="1" dirty="0">
                <a:solidFill>
                  <a:srgbClr val="FFFFFF"/>
                </a:solidFill>
              </a:rPr>
              <a:t>growing GDP.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4114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YOU!!!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199" y="4754880"/>
            <a:ext cx="8048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  ·  Data Analytics Final Project  ·  Africa: GDP, Life Expectancy &amp; Extreme Poverty .  PRINCESS EBEAGBOR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8216</TotalTime>
  <Words>2075</Words>
  <Application>Microsoft Office PowerPoint</Application>
  <PresentationFormat>On-screen Show (16:9)</PresentationFormat>
  <Paragraphs>212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Money and Poverty Affect Lives in Africa</dc:title>
  <dc:subject>PptxGenJS Presentation</dc:subject>
  <dc:creator>Final Project — Data Analytics</dc:creator>
  <cp:lastModifiedBy>Princess Ebeagbor</cp:lastModifiedBy>
  <cp:revision>4</cp:revision>
  <dcterms:created xsi:type="dcterms:W3CDTF">2026-06-16T11:32:41Z</dcterms:created>
  <dcterms:modified xsi:type="dcterms:W3CDTF">2026-08-28T12:52:21Z</dcterms:modified>
</cp:coreProperties>
</file>